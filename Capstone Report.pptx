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76e8340b4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d76e8340b4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d76e8340b4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d76e8340b4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76e8340b4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d76e8340b4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76e8340b4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d76e8340b4_0_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76e8340b4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d76e8340b4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76e8340b4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76e8340b4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76e8340b4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76e8340b4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d76e8340b4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d76e8340b4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How Members and Casual Riders Use Cyclistic Differently</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Cyclistic Bike-Share Capstone Analysis</a:t>
            </a:r>
            <a:endParaRPr/>
          </a:p>
        </p:txBody>
      </p:sp>
      <p:sp>
        <p:nvSpPr>
          <p:cNvPr id="56" name="Google Shape;56;p13"/>
          <p:cNvSpPr txBox="1"/>
          <p:nvPr/>
        </p:nvSpPr>
        <p:spPr>
          <a:xfrm>
            <a:off x="1921800" y="3771250"/>
            <a:ext cx="5290200" cy="57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rPr>
              <a:t>Created by: Weibin Liu</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2000"/>
              <a:t>Riders are highly seasonal</a:t>
            </a:r>
            <a:endParaRPr sz="2000"/>
          </a:p>
          <a:p>
            <a:pPr indent="0" lvl="0" marL="0" rtl="0" algn="l">
              <a:spcBef>
                <a:spcPts val="1200"/>
              </a:spcBef>
              <a:spcAft>
                <a:spcPts val="0"/>
              </a:spcAft>
              <a:buNone/>
            </a:pPr>
            <a:r>
              <a:t/>
            </a:r>
            <a:endParaRPr/>
          </a:p>
        </p:txBody>
      </p:sp>
      <p:sp>
        <p:nvSpPr>
          <p:cNvPr id="62" name="Google Shape;62;p14"/>
          <p:cNvSpPr txBox="1"/>
          <p:nvPr>
            <p:ph idx="1" type="body"/>
          </p:nvPr>
        </p:nvSpPr>
        <p:spPr>
          <a:xfrm>
            <a:off x="311700" y="1152475"/>
            <a:ext cx="3252900" cy="4850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 sz="1500">
                <a:solidFill>
                  <a:schemeClr val="dk1"/>
                </a:solidFill>
              </a:rPr>
              <a:t>Casual riders show strong seasonality: usage peaks in summer and drops sharply in winter</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Members share similar patterns with Casual riders</a:t>
            </a:r>
            <a:endParaRPr sz="1500">
              <a:solidFill>
                <a:schemeClr val="dk1"/>
              </a:solidFill>
            </a:endParaRPr>
          </a:p>
          <a:p>
            <a:pPr indent="0" lvl="0" marL="0" rtl="0" algn="l">
              <a:spcBef>
                <a:spcPts val="1200"/>
              </a:spcBef>
              <a:spcAft>
                <a:spcPts val="0"/>
              </a:spcAft>
              <a:buNone/>
            </a:pPr>
            <a:r>
              <a:rPr lang="en" sz="1500">
                <a:solidFill>
                  <a:schemeClr val="dk1"/>
                </a:solidFill>
              </a:rPr>
              <a:t>Both Casual riders and Members use our service less during the colder months, as it is too cold to </a:t>
            </a:r>
            <a:r>
              <a:rPr lang="en" sz="1500">
                <a:solidFill>
                  <a:schemeClr val="dk1"/>
                </a:solidFill>
              </a:rPr>
              <a:t>comfortably</a:t>
            </a:r>
            <a:r>
              <a:rPr lang="en" sz="1500">
                <a:solidFill>
                  <a:schemeClr val="dk1"/>
                </a:solidFill>
              </a:rPr>
              <a:t> ride a bike.</a:t>
            </a:r>
            <a:endParaRPr sz="1500">
              <a:solidFill>
                <a:schemeClr val="dk1"/>
              </a:solidFill>
            </a:endParaRPr>
          </a:p>
          <a:p>
            <a:pPr indent="0" lvl="0" marL="0" rtl="0" algn="l">
              <a:spcBef>
                <a:spcPts val="1200"/>
              </a:spcBef>
              <a:spcAft>
                <a:spcPts val="0"/>
              </a:spcAft>
              <a:buNone/>
            </a:pPr>
            <a:r>
              <a:t/>
            </a:r>
            <a:endParaRPr sz="1500"/>
          </a:p>
          <a:p>
            <a:pPr indent="0" lvl="0" marL="457200" rtl="0" algn="l">
              <a:spcBef>
                <a:spcPts val="1200"/>
              </a:spcBef>
              <a:spcAft>
                <a:spcPts val="1200"/>
              </a:spcAft>
              <a:buNone/>
            </a:pPr>
            <a:r>
              <a:t/>
            </a:r>
            <a:endParaRPr sz="1500"/>
          </a:p>
        </p:txBody>
      </p:sp>
      <p:pic>
        <p:nvPicPr>
          <p:cNvPr id="63" name="Google Shape;63;p14"/>
          <p:cNvPicPr preferRelativeResize="0"/>
          <p:nvPr/>
        </p:nvPicPr>
        <p:blipFill>
          <a:blip r:embed="rId3">
            <a:alphaModFix/>
          </a:blip>
          <a:stretch>
            <a:fillRect/>
          </a:stretch>
        </p:blipFill>
        <p:spPr>
          <a:xfrm>
            <a:off x="3675675" y="1562750"/>
            <a:ext cx="5274601" cy="281918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97050"/>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2000"/>
              <a:t>Casual Riders Peak on Weekends — Members Ride Most During the Work Week</a:t>
            </a:r>
            <a:endParaRPr sz="2000"/>
          </a:p>
          <a:p>
            <a:pPr indent="0" lvl="0" marL="0" rtl="0" algn="l">
              <a:spcBef>
                <a:spcPts val="1200"/>
              </a:spcBef>
              <a:spcAft>
                <a:spcPts val="0"/>
              </a:spcAft>
              <a:buNone/>
            </a:pPr>
            <a:r>
              <a:t/>
            </a:r>
            <a:endParaRPr sz="2000"/>
          </a:p>
        </p:txBody>
      </p:sp>
      <p:sp>
        <p:nvSpPr>
          <p:cNvPr id="69" name="Google Shape;69;p15"/>
          <p:cNvSpPr txBox="1"/>
          <p:nvPr>
            <p:ph idx="1" type="body"/>
          </p:nvPr>
        </p:nvSpPr>
        <p:spPr>
          <a:xfrm>
            <a:off x="397288" y="4163875"/>
            <a:ext cx="7114200" cy="15237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Casual riders concentrate rides on weekends (Saturday is their busiest day)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Members ride most during the work week (highest on Thursday and Tuesday)</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Members provide steady, reliable usage all week — casual riders are much more weekend-focused</a:t>
            </a:r>
            <a:endParaRPr sz="1100">
              <a:solidFill>
                <a:schemeClr val="dk1"/>
              </a:solidFill>
            </a:endParaRPr>
          </a:p>
          <a:p>
            <a:pPr indent="0" lvl="0" marL="0" rtl="0" algn="l">
              <a:spcBef>
                <a:spcPts val="1200"/>
              </a:spcBef>
              <a:spcAft>
                <a:spcPts val="1200"/>
              </a:spcAft>
              <a:buNone/>
            </a:pPr>
            <a:r>
              <a:t/>
            </a:r>
            <a:endParaRPr b="1" sz="1100">
              <a:solidFill>
                <a:schemeClr val="dk1"/>
              </a:solidFill>
            </a:endParaRPr>
          </a:p>
        </p:txBody>
      </p:sp>
      <p:pic>
        <p:nvPicPr>
          <p:cNvPr id="70" name="Google Shape;70;p15"/>
          <p:cNvPicPr preferRelativeResize="0"/>
          <p:nvPr/>
        </p:nvPicPr>
        <p:blipFill>
          <a:blip r:embed="rId3">
            <a:alphaModFix/>
          </a:blip>
          <a:stretch>
            <a:fillRect/>
          </a:stretch>
        </p:blipFill>
        <p:spPr>
          <a:xfrm>
            <a:off x="397300" y="1154025"/>
            <a:ext cx="7858125" cy="2947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73700" y="30037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000"/>
              <a:t>Members Ride at Peak Commute Hours — Casuals Ride More Leisurely Throughout the Day</a:t>
            </a:r>
            <a:endParaRPr sz="2000"/>
          </a:p>
          <a:p>
            <a:pPr indent="0" lvl="0" marL="0" rtl="0" algn="l">
              <a:lnSpc>
                <a:spcPct val="115000"/>
              </a:lnSpc>
              <a:spcBef>
                <a:spcPts val="1200"/>
              </a:spcBef>
              <a:spcAft>
                <a:spcPts val="0"/>
              </a:spcAft>
              <a:buClr>
                <a:schemeClr val="dk1"/>
              </a:buClr>
              <a:buSzPts val="1100"/>
              <a:buFont typeface="Arial"/>
              <a:buNone/>
            </a:pPr>
            <a:r>
              <a:t/>
            </a:r>
            <a:endParaRPr sz="2000"/>
          </a:p>
          <a:p>
            <a:pPr indent="0" lvl="0" marL="0" rtl="0" algn="l">
              <a:spcBef>
                <a:spcPts val="1200"/>
              </a:spcBef>
              <a:spcAft>
                <a:spcPts val="0"/>
              </a:spcAft>
              <a:buNone/>
            </a:pPr>
            <a:r>
              <a:t/>
            </a:r>
            <a:endParaRPr/>
          </a:p>
        </p:txBody>
      </p:sp>
      <p:sp>
        <p:nvSpPr>
          <p:cNvPr id="76" name="Google Shape;76;p16"/>
          <p:cNvSpPr txBox="1"/>
          <p:nvPr>
            <p:ph idx="1" type="body"/>
          </p:nvPr>
        </p:nvSpPr>
        <p:spPr>
          <a:xfrm>
            <a:off x="311625" y="1111125"/>
            <a:ext cx="39246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solidFill>
                  <a:schemeClr val="dk1"/>
                </a:solidFill>
              </a:rPr>
              <a:t>Members show clear commute spikes: highest usage around 8 AM and 4–6 PM</a:t>
            </a:r>
            <a:endParaRPr sz="1300">
              <a:solidFill>
                <a:schemeClr val="dk1"/>
              </a:solidFill>
            </a:endParaRPr>
          </a:p>
          <a:p>
            <a:pPr indent="-311150" lvl="0" marL="457200" rtl="0" algn="l">
              <a:spcBef>
                <a:spcPts val="0"/>
              </a:spcBef>
              <a:spcAft>
                <a:spcPts val="0"/>
              </a:spcAft>
              <a:buSzPts val="1300"/>
              <a:buChar char="●"/>
            </a:pPr>
            <a:r>
              <a:rPr lang="en" sz="1300">
                <a:solidFill>
                  <a:schemeClr val="dk1"/>
                </a:solidFill>
              </a:rPr>
              <a:t>Casual riders have a steadier, more leisurely pattern that builds through the afternoon and drops off around sunset</a:t>
            </a:r>
            <a:endParaRPr sz="1300">
              <a:solidFill>
                <a:schemeClr val="dk1"/>
              </a:solidFill>
            </a:endParaRPr>
          </a:p>
          <a:p>
            <a:pPr indent="-311150" lvl="0" marL="457200" rtl="0" algn="l">
              <a:spcBef>
                <a:spcPts val="0"/>
              </a:spcBef>
              <a:spcAft>
                <a:spcPts val="0"/>
              </a:spcAft>
              <a:buSzPts val="1300"/>
              <a:buChar char="●"/>
            </a:pPr>
            <a:r>
              <a:rPr lang="en" sz="1300">
                <a:solidFill>
                  <a:schemeClr val="dk1"/>
                </a:solidFill>
              </a:rPr>
              <a:t>This timing difference reinforces that members use bikes for practical transportation while casuals use them for recreation</a:t>
            </a:r>
            <a:endParaRPr sz="1300">
              <a:solidFill>
                <a:schemeClr val="dk1"/>
              </a:solidFill>
            </a:endParaRPr>
          </a:p>
          <a:p>
            <a:pPr indent="0" lvl="0" marL="0" rtl="0" algn="l">
              <a:spcBef>
                <a:spcPts val="1200"/>
              </a:spcBef>
              <a:spcAft>
                <a:spcPts val="0"/>
              </a:spcAft>
              <a:buNone/>
            </a:pPr>
            <a:r>
              <a:t/>
            </a:r>
            <a:endParaRPr sz="1300">
              <a:solidFill>
                <a:schemeClr val="dk1"/>
              </a:solidFill>
            </a:endParaRPr>
          </a:p>
          <a:p>
            <a:pPr indent="0" lvl="0" marL="0" rtl="0" algn="l">
              <a:spcBef>
                <a:spcPts val="1200"/>
              </a:spcBef>
              <a:spcAft>
                <a:spcPts val="0"/>
              </a:spcAft>
              <a:buNone/>
            </a:pPr>
            <a:r>
              <a:rPr lang="en" sz="1300">
                <a:solidFill>
                  <a:schemeClr val="dk1"/>
                </a:solidFill>
              </a:rPr>
              <a:t>Members concentrate rides during typical work commute windows, where casual riders spread rides more evenly across daylight hours, peaking in the afternoon.</a:t>
            </a:r>
            <a:endParaRPr sz="1300">
              <a:solidFill>
                <a:schemeClr val="dk1"/>
              </a:solidFill>
            </a:endParaRPr>
          </a:p>
          <a:p>
            <a:pPr indent="0" lvl="0" marL="457200" rtl="0" algn="l">
              <a:spcBef>
                <a:spcPts val="1200"/>
              </a:spcBef>
              <a:spcAft>
                <a:spcPts val="1200"/>
              </a:spcAft>
              <a:buNone/>
            </a:pPr>
            <a:r>
              <a:t/>
            </a:r>
            <a:endParaRPr/>
          </a:p>
        </p:txBody>
      </p:sp>
      <p:pic>
        <p:nvPicPr>
          <p:cNvPr id="77" name="Google Shape;77;p16"/>
          <p:cNvPicPr preferRelativeResize="0"/>
          <p:nvPr/>
        </p:nvPicPr>
        <p:blipFill>
          <a:blip r:embed="rId3">
            <a:alphaModFix/>
          </a:blip>
          <a:stretch>
            <a:fillRect/>
          </a:stretch>
        </p:blipFill>
        <p:spPr>
          <a:xfrm>
            <a:off x="4236225" y="1473025"/>
            <a:ext cx="4701149" cy="3166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135050"/>
            <a:ext cx="3924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2000"/>
              <a:t>Both Groups Prefer Electric Bikes — But Casuals Ride Classic Bikes Much Longer</a:t>
            </a:r>
            <a:endParaRPr sz="2000"/>
          </a:p>
          <a:p>
            <a:pPr indent="0" lvl="0" marL="0" rtl="0" algn="l">
              <a:spcBef>
                <a:spcPts val="1200"/>
              </a:spcBef>
              <a:spcAft>
                <a:spcPts val="0"/>
              </a:spcAft>
              <a:buNone/>
            </a:pPr>
            <a:r>
              <a:t/>
            </a:r>
            <a:endParaRPr/>
          </a:p>
        </p:txBody>
      </p:sp>
      <p:sp>
        <p:nvSpPr>
          <p:cNvPr id="83" name="Google Shape;83;p17"/>
          <p:cNvSpPr txBox="1"/>
          <p:nvPr>
            <p:ph idx="1" type="body"/>
          </p:nvPr>
        </p:nvSpPr>
        <p:spPr>
          <a:xfrm>
            <a:off x="311700" y="1297125"/>
            <a:ext cx="3924600" cy="39207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chemeClr val="dk1"/>
              </a:buClr>
              <a:buSzPts val="1300"/>
              <a:buChar char="●"/>
            </a:pPr>
            <a:r>
              <a:rPr lang="en" sz="1300">
                <a:solidFill>
                  <a:schemeClr val="dk1"/>
                </a:solidFill>
              </a:rPr>
              <a:t>Both casual riders and annual members strongly prefer electric bikes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Casual riders take significantly longer rides on classic bikes compared to electric bikes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Members show the same pattern, but the difference is much smaller</a:t>
            </a:r>
            <a:endParaRPr sz="1300">
              <a:solidFill>
                <a:schemeClr val="dk1"/>
              </a:solidFill>
            </a:endParaRPr>
          </a:p>
          <a:p>
            <a:pPr indent="0" lvl="0" marL="0" rtl="0" algn="l">
              <a:spcBef>
                <a:spcPts val="1200"/>
              </a:spcBef>
              <a:spcAft>
                <a:spcPts val="0"/>
              </a:spcAft>
              <a:buNone/>
            </a:pPr>
            <a:r>
              <a:rPr lang="en" sz="1300">
                <a:solidFill>
                  <a:schemeClr val="dk1"/>
                </a:solidFill>
              </a:rPr>
              <a:t>Casual riders average 24+ on cassic bikes vs only 13 minutes on electric bikes. This suggests casual riders enjoy the classic bike experience more (leisure rides), while members are more efficiency-focused regardless of bike type.</a:t>
            </a:r>
            <a:endParaRPr sz="1300">
              <a:solidFill>
                <a:schemeClr val="dk1"/>
              </a:solidFill>
            </a:endParaRPr>
          </a:p>
          <a:p>
            <a:pPr indent="0" lvl="0" marL="0" rtl="0" algn="l">
              <a:spcBef>
                <a:spcPts val="1200"/>
              </a:spcBef>
              <a:spcAft>
                <a:spcPts val="0"/>
              </a:spcAft>
              <a:buNone/>
            </a:pPr>
            <a:r>
              <a:t/>
            </a:r>
            <a:endParaRPr sz="1300">
              <a:solidFill>
                <a:schemeClr val="dk1"/>
              </a:solidFill>
            </a:endParaRPr>
          </a:p>
          <a:p>
            <a:pPr indent="0" lvl="0" marL="0" rtl="0" algn="l">
              <a:spcBef>
                <a:spcPts val="1200"/>
              </a:spcBef>
              <a:spcAft>
                <a:spcPts val="1200"/>
              </a:spcAft>
              <a:buNone/>
            </a:pPr>
            <a:r>
              <a:t/>
            </a:r>
            <a:endParaRPr/>
          </a:p>
        </p:txBody>
      </p:sp>
      <p:pic>
        <p:nvPicPr>
          <p:cNvPr id="84" name="Google Shape;84;p17"/>
          <p:cNvPicPr preferRelativeResize="0"/>
          <p:nvPr/>
        </p:nvPicPr>
        <p:blipFill>
          <a:blip r:embed="rId3">
            <a:alphaModFix/>
          </a:blip>
          <a:stretch>
            <a:fillRect/>
          </a:stretch>
        </p:blipFill>
        <p:spPr>
          <a:xfrm>
            <a:off x="4303850" y="0"/>
            <a:ext cx="4840151" cy="2586975"/>
          </a:xfrm>
          <a:prstGeom prst="rect">
            <a:avLst/>
          </a:prstGeom>
          <a:noFill/>
          <a:ln>
            <a:noFill/>
          </a:ln>
        </p:spPr>
      </p:pic>
      <p:pic>
        <p:nvPicPr>
          <p:cNvPr id="85" name="Google Shape;85;p17"/>
          <p:cNvPicPr preferRelativeResize="0"/>
          <p:nvPr/>
        </p:nvPicPr>
        <p:blipFill>
          <a:blip r:embed="rId4">
            <a:alphaModFix/>
          </a:blip>
          <a:stretch>
            <a:fillRect/>
          </a:stretch>
        </p:blipFill>
        <p:spPr>
          <a:xfrm>
            <a:off x="4303850" y="2636075"/>
            <a:ext cx="4840149" cy="2507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433800" y="259050"/>
            <a:ext cx="41382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2000"/>
              <a:t>Casual Riders Take Significantly Longer Rides — Especially in Summer and on Weekends</a:t>
            </a:r>
            <a:endParaRPr sz="2000"/>
          </a:p>
          <a:p>
            <a:pPr indent="0" lvl="0" marL="0" rtl="0" algn="l">
              <a:spcBef>
                <a:spcPts val="1200"/>
              </a:spcBef>
              <a:spcAft>
                <a:spcPts val="0"/>
              </a:spcAft>
              <a:buNone/>
            </a:pPr>
            <a:r>
              <a:t/>
            </a:r>
            <a:endParaRPr sz="2000"/>
          </a:p>
        </p:txBody>
      </p:sp>
      <p:sp>
        <p:nvSpPr>
          <p:cNvPr id="91" name="Google Shape;91;p18"/>
          <p:cNvSpPr txBox="1"/>
          <p:nvPr>
            <p:ph idx="1" type="body"/>
          </p:nvPr>
        </p:nvSpPr>
        <p:spPr>
          <a:xfrm>
            <a:off x="291025" y="1565775"/>
            <a:ext cx="38712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chemeClr val="dk1"/>
              </a:buClr>
              <a:buSzPts val="1300"/>
              <a:buChar char="●"/>
            </a:pPr>
            <a:r>
              <a:rPr lang="en" sz="1300">
                <a:solidFill>
                  <a:schemeClr val="dk1"/>
                </a:solidFill>
              </a:rPr>
              <a:t>Casual riders average 17.72 minutes per ride vs members’ 11.82 minutes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Casual ride length increases sharply in warmer months and peaks in August</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Members keep ride times much more consistent year-round and throughout the week</a:t>
            </a:r>
            <a:endParaRPr sz="1300">
              <a:solidFill>
                <a:schemeClr val="dk1"/>
              </a:solidFill>
            </a:endParaRPr>
          </a:p>
          <a:p>
            <a:pPr indent="0" lvl="0" marL="0" rtl="0" algn="l">
              <a:spcBef>
                <a:spcPts val="1200"/>
              </a:spcBef>
              <a:spcAft>
                <a:spcPts val="0"/>
              </a:spcAft>
              <a:buNone/>
            </a:pPr>
            <a:r>
              <a:rPr lang="en" sz="1300">
                <a:solidFill>
                  <a:schemeClr val="dk1"/>
                </a:solidFill>
              </a:rPr>
              <a:t>Casual riders treat bikes as leisure — longer rides on weekends and during summer.</a:t>
            </a:r>
            <a:endParaRPr sz="1300">
              <a:solidFill>
                <a:schemeClr val="dk1"/>
              </a:solidFill>
            </a:endParaRPr>
          </a:p>
          <a:p>
            <a:pPr indent="0" lvl="0" marL="0" rtl="0" algn="l">
              <a:spcBef>
                <a:spcPts val="1200"/>
              </a:spcBef>
              <a:spcAft>
                <a:spcPts val="0"/>
              </a:spcAft>
              <a:buNone/>
            </a:pPr>
            <a:r>
              <a:rPr lang="en" sz="1300">
                <a:solidFill>
                  <a:schemeClr val="dk1"/>
                </a:solidFill>
              </a:rPr>
              <a:t>Members treat bikes as transportation — shorter, steady rides all year.</a:t>
            </a:r>
            <a:endParaRPr sz="1300">
              <a:solidFill>
                <a:schemeClr val="dk1"/>
              </a:solidFill>
            </a:endParaRPr>
          </a:p>
          <a:p>
            <a:pPr indent="0" lvl="0" marL="0" rtl="0" algn="l">
              <a:spcBef>
                <a:spcPts val="1200"/>
              </a:spcBef>
              <a:spcAft>
                <a:spcPts val="1200"/>
              </a:spcAft>
              <a:buNone/>
            </a:pPr>
            <a:r>
              <a:t/>
            </a:r>
            <a:endParaRPr sz="1300">
              <a:solidFill>
                <a:schemeClr val="dk1"/>
              </a:solidFill>
            </a:endParaRPr>
          </a:p>
        </p:txBody>
      </p:sp>
      <p:pic>
        <p:nvPicPr>
          <p:cNvPr id="92" name="Google Shape;92;p18"/>
          <p:cNvPicPr preferRelativeResize="0"/>
          <p:nvPr/>
        </p:nvPicPr>
        <p:blipFill>
          <a:blip r:embed="rId3">
            <a:alphaModFix/>
          </a:blip>
          <a:stretch>
            <a:fillRect/>
          </a:stretch>
        </p:blipFill>
        <p:spPr>
          <a:xfrm>
            <a:off x="4492850" y="2485075"/>
            <a:ext cx="4652825" cy="2658425"/>
          </a:xfrm>
          <a:prstGeom prst="rect">
            <a:avLst/>
          </a:prstGeom>
          <a:noFill/>
          <a:ln>
            <a:noFill/>
          </a:ln>
        </p:spPr>
      </p:pic>
      <p:pic>
        <p:nvPicPr>
          <p:cNvPr id="93" name="Google Shape;93;p18"/>
          <p:cNvPicPr preferRelativeResize="0"/>
          <p:nvPr/>
        </p:nvPicPr>
        <p:blipFill>
          <a:blip r:embed="rId4">
            <a:alphaModFix/>
          </a:blip>
          <a:stretch>
            <a:fillRect/>
          </a:stretch>
        </p:blipFill>
        <p:spPr>
          <a:xfrm>
            <a:off x="4491175" y="0"/>
            <a:ext cx="4652825" cy="2441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73675" y="424375"/>
            <a:ext cx="41073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2000"/>
              <a:t>Ride Distance Is Almost Identical — Members Go Slightly Farther</a:t>
            </a:r>
            <a:endParaRPr sz="2000"/>
          </a:p>
          <a:p>
            <a:pPr indent="0" lvl="0" marL="0" rtl="0" algn="l">
              <a:spcBef>
                <a:spcPts val="1200"/>
              </a:spcBef>
              <a:spcAft>
                <a:spcPts val="0"/>
              </a:spcAft>
              <a:buNone/>
            </a:pPr>
            <a:r>
              <a:t/>
            </a:r>
            <a:endParaRPr b="1" sz="2000"/>
          </a:p>
        </p:txBody>
      </p:sp>
      <p:sp>
        <p:nvSpPr>
          <p:cNvPr id="99" name="Google Shape;99;p19"/>
          <p:cNvSpPr txBox="1"/>
          <p:nvPr>
            <p:ph idx="1" type="body"/>
          </p:nvPr>
        </p:nvSpPr>
        <p:spPr>
          <a:xfrm>
            <a:off x="311700" y="1152475"/>
            <a:ext cx="41073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chemeClr val="dk1"/>
              </a:buClr>
              <a:buSzPts val="1300"/>
              <a:buChar char="●"/>
            </a:pPr>
            <a:r>
              <a:rPr lang="en" sz="1300">
                <a:solidFill>
                  <a:schemeClr val="dk1"/>
                </a:solidFill>
              </a:rPr>
              <a:t>Members ride slightly longer distances on average (1.39 miles) than casual riders (1.33 miles)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Both groups ride farther on weekends, especially Saturday</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Distance for both rider types gradually increases through summer and peaks in August, then declines in the fall and winter</a:t>
            </a:r>
            <a:endParaRPr sz="1300">
              <a:solidFill>
                <a:schemeClr val="dk1"/>
              </a:solidFill>
            </a:endParaRPr>
          </a:p>
          <a:p>
            <a:pPr indent="0" lvl="0" marL="0" rtl="0" algn="l">
              <a:spcBef>
                <a:spcPts val="1200"/>
              </a:spcBef>
              <a:spcAft>
                <a:spcPts val="0"/>
              </a:spcAft>
              <a:buNone/>
            </a:pPr>
            <a:r>
              <a:rPr lang="en" sz="1300">
                <a:solidFill>
                  <a:schemeClr val="dk1"/>
                </a:solidFill>
              </a:rPr>
              <a:t>While distance traveled is very similar between casual riders and members, the small difference reinforces that members use the bikes more efficiently for transportation. The strong summer peak shows weather still plays a big role for both groups.</a:t>
            </a:r>
            <a:endParaRPr sz="1300">
              <a:solidFill>
                <a:schemeClr val="dk1"/>
              </a:solidFill>
            </a:endParaRPr>
          </a:p>
          <a:p>
            <a:pPr indent="0" lvl="0" marL="0" rtl="0" algn="l">
              <a:spcBef>
                <a:spcPts val="1200"/>
              </a:spcBef>
              <a:spcAft>
                <a:spcPts val="1200"/>
              </a:spcAft>
              <a:buNone/>
            </a:pPr>
            <a:r>
              <a:t/>
            </a:r>
            <a:endParaRPr sz="1300">
              <a:solidFill>
                <a:schemeClr val="dk1"/>
              </a:solidFill>
            </a:endParaRPr>
          </a:p>
        </p:txBody>
      </p:sp>
      <p:pic>
        <p:nvPicPr>
          <p:cNvPr id="100" name="Google Shape;100;p19"/>
          <p:cNvPicPr preferRelativeResize="0"/>
          <p:nvPr/>
        </p:nvPicPr>
        <p:blipFill>
          <a:blip r:embed="rId3">
            <a:alphaModFix/>
          </a:blip>
          <a:stretch>
            <a:fillRect/>
          </a:stretch>
        </p:blipFill>
        <p:spPr>
          <a:xfrm>
            <a:off x="4419150" y="2525350"/>
            <a:ext cx="4724876" cy="2618151"/>
          </a:xfrm>
          <a:prstGeom prst="rect">
            <a:avLst/>
          </a:prstGeom>
          <a:noFill/>
          <a:ln>
            <a:noFill/>
          </a:ln>
        </p:spPr>
      </p:pic>
      <p:pic>
        <p:nvPicPr>
          <p:cNvPr id="101" name="Google Shape;101;p19"/>
          <p:cNvPicPr preferRelativeResize="0"/>
          <p:nvPr/>
        </p:nvPicPr>
        <p:blipFill>
          <a:blip r:embed="rId4">
            <a:alphaModFix/>
          </a:blip>
          <a:stretch>
            <a:fillRect/>
          </a:stretch>
        </p:blipFill>
        <p:spPr>
          <a:xfrm>
            <a:off x="4419150" y="2"/>
            <a:ext cx="4724852" cy="2525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2000"/>
              <a:t>Final Conclusion</a:t>
            </a:r>
            <a:endParaRPr sz="2000"/>
          </a:p>
          <a:p>
            <a:pPr indent="0" lvl="0" marL="0" rtl="0" algn="l">
              <a:spcBef>
                <a:spcPts val="1200"/>
              </a:spcBef>
              <a:spcAft>
                <a:spcPts val="0"/>
              </a:spcAft>
              <a:buNone/>
            </a:pPr>
            <a:r>
              <a:t/>
            </a:r>
            <a:endParaRPr sz="2000"/>
          </a:p>
        </p:txBody>
      </p:sp>
      <p:sp>
        <p:nvSpPr>
          <p:cNvPr id="107" name="Google Shape;107;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a:solidFill>
                  <a:schemeClr val="dk1"/>
                </a:solidFill>
              </a:rPr>
              <a:t>Annual members and casual riders use Cyclistic bikes in fundamentally different ways.</a:t>
            </a:r>
            <a:endParaRPr>
              <a:solidFill>
                <a:schemeClr val="dk1"/>
              </a:solidFill>
            </a:endParaRPr>
          </a:p>
          <a:p>
            <a:pPr indent="-342900" lvl="0" marL="457200" rtl="0" algn="l">
              <a:spcBef>
                <a:spcPts val="1200"/>
              </a:spcBef>
              <a:spcAft>
                <a:spcPts val="0"/>
              </a:spcAft>
              <a:buClr>
                <a:schemeClr val="dk1"/>
              </a:buClr>
              <a:buSzPts val="1800"/>
              <a:buAutoNum type="arabicPeriod"/>
            </a:pPr>
            <a:r>
              <a:rPr lang="en">
                <a:solidFill>
                  <a:schemeClr val="dk1"/>
                </a:solidFill>
              </a:rPr>
              <a:t>Casual riders treat the service as weekend leisure and seasonal fun (longer rides, big summer peaks)</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Members treat it as reliable daily transportation (shorter rides, consistent year-round and weekday usage)</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Distance traveled is almost identical — the real difference is how long they keep the bike</a:t>
            </a:r>
            <a:endParaRPr>
              <a:solidFill>
                <a:schemeClr val="dk1"/>
              </a:solidFill>
            </a:endParaRPr>
          </a:p>
          <a:p>
            <a:pPr indent="0" lvl="0" marL="0" rtl="0" algn="l">
              <a:spcBef>
                <a:spcPts val="1200"/>
              </a:spcBef>
              <a:spcAft>
                <a:spcPts val="0"/>
              </a:spcAft>
              <a:buNone/>
            </a:pPr>
            <a:r>
              <a:rPr lang="en">
                <a:solidFill>
                  <a:schemeClr val="dk1"/>
                </a:solidFill>
              </a:rPr>
              <a:t>Understanding these patterns gives us a clear opportunity to convert casual riders into loyal, high-value annual members — the key to Cyclistic’s long-term growth.</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2000"/>
              <a:t>Top Three Recommendations to turn Casuals Into Members</a:t>
            </a:r>
            <a:endParaRPr sz="2000"/>
          </a:p>
          <a:p>
            <a:pPr indent="0" lvl="0" marL="0" rtl="0" algn="l">
              <a:spcBef>
                <a:spcPts val="1200"/>
              </a:spcBef>
              <a:spcAft>
                <a:spcPts val="0"/>
              </a:spcAft>
              <a:buNone/>
            </a:pPr>
            <a:r>
              <a:t/>
            </a:r>
            <a:endParaRPr/>
          </a:p>
        </p:txBody>
      </p:sp>
      <p:sp>
        <p:nvSpPr>
          <p:cNvPr id="113" name="Google Shape;11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AutoNum type="arabicPeriod"/>
            </a:pPr>
            <a:r>
              <a:rPr lang="en"/>
              <a:t>Leisure to Members Promotion</a:t>
            </a:r>
            <a:endParaRPr/>
          </a:p>
          <a:p>
            <a:pPr indent="-310832" lvl="1" marL="914400" rtl="0" algn="l">
              <a:spcBef>
                <a:spcPts val="0"/>
              </a:spcBef>
              <a:spcAft>
                <a:spcPts val="0"/>
              </a:spcAft>
              <a:buSzPct val="100000"/>
              <a:buAutoNum type="alphaLcPeriod"/>
            </a:pPr>
            <a:r>
              <a:rPr lang="en"/>
              <a:t>Run a promotion for Casual riders who take rides longer than 20 minutes on Friday </a:t>
            </a:r>
            <a:r>
              <a:rPr lang="en"/>
              <a:t>through</a:t>
            </a:r>
            <a:r>
              <a:rPr lang="en"/>
              <a:t> </a:t>
            </a:r>
            <a:r>
              <a:rPr lang="en"/>
              <a:t>sunday, where they can get annual membership with an 20 discount for the first month. This targets the high amount of casual riders who use our service mainly on weekends.</a:t>
            </a:r>
            <a:endParaRPr/>
          </a:p>
          <a:p>
            <a:pPr indent="-334328" lvl="0" marL="457200" rtl="0" algn="l">
              <a:spcBef>
                <a:spcPts val="0"/>
              </a:spcBef>
              <a:spcAft>
                <a:spcPts val="0"/>
              </a:spcAft>
              <a:buSzPct val="100000"/>
              <a:buAutoNum type="arabicPeriod"/>
            </a:pPr>
            <a:r>
              <a:rPr lang="en"/>
              <a:t>Events during the July - August</a:t>
            </a:r>
            <a:endParaRPr/>
          </a:p>
          <a:p>
            <a:pPr indent="-310832" lvl="1" marL="914400" rtl="0" algn="l">
              <a:spcBef>
                <a:spcPts val="0"/>
              </a:spcBef>
              <a:spcAft>
                <a:spcPts val="0"/>
              </a:spcAft>
              <a:buSzPct val="100000"/>
              <a:buAutoNum type="alphaLcPeriod"/>
            </a:pPr>
            <a:r>
              <a:rPr lang="en"/>
              <a:t>Host targeted community events during peak casual months (especially July and August). Use these events to give casual riders a “final push” toward membership by creating a sense of community and belonging. This also allows us to foster a stronger community relationship with our current members creating consumer loyalty.</a:t>
            </a:r>
            <a:endParaRPr/>
          </a:p>
          <a:p>
            <a:pPr indent="-334328" lvl="0" marL="457200" rtl="0" algn="l">
              <a:spcBef>
                <a:spcPts val="0"/>
              </a:spcBef>
              <a:spcAft>
                <a:spcPts val="0"/>
              </a:spcAft>
              <a:buSzPct val="100000"/>
              <a:buAutoNum type="arabicPeriod"/>
            </a:pPr>
            <a:r>
              <a:rPr lang="en"/>
              <a:t>Winter Amenities for Members</a:t>
            </a:r>
            <a:endParaRPr/>
          </a:p>
          <a:p>
            <a:pPr indent="-310832" lvl="1" marL="914400" rtl="0" algn="l">
              <a:spcBef>
                <a:spcPts val="0"/>
              </a:spcBef>
              <a:spcAft>
                <a:spcPts val="0"/>
              </a:spcAft>
              <a:buSzPct val="100000"/>
              <a:buAutoNum type="alphaLcPeriod"/>
            </a:pPr>
            <a:r>
              <a:rPr lang="en"/>
              <a:t>Offer free winter amenities (hot drinks, mittens, scarves) at docking stations for annual members and anyone who upgrades during the colder months.Both groups see a sharp drop in usage during winter, but members stay far more consistent. These perks give casual riders a reason to commit year-round instead of switching to other transport options</a:t>
            </a:r>
            <a:endParaRPr/>
          </a:p>
          <a:p>
            <a:pPr indent="0" lvl="0" marL="91440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